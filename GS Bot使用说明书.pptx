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.trae-cn\work\6a7e65495c6a4d9e6d9905a4\gsbot_cover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188720"/>
            <a:ext cx="10972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 Bot 使用说明书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服装运营一体化工具箱 · 八大功能模块详解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功能介绍 · 界面导航 · 操作指南 · 常见问题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2026  |  内部使用资料  |  Copyright © 2026 JayforAndy</a:t>
            </a:r>
            <a:endParaRPr lang="en-US" sz="11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475488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2527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4721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 Bot 简介与核心价值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01368"/>
            <a:ext cx="54864" cy="475488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19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1819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界面导航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0391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顶部导航、侧边栏与主区域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68296"/>
            <a:ext cx="54864" cy="475488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386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功能模块总览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6060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八大模块一览与功能分组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35224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35224"/>
            <a:ext cx="54864" cy="475488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2953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生成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172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从图片文件夹生成演示文稿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502152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02152"/>
            <a:ext cx="54864" cy="475488"/>
          </a:xfrm>
          <a:prstGeom prst="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37398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批量抓取品牌商品资料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069080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069080"/>
            <a:ext cx="54864" cy="475488"/>
          </a:xfrm>
          <a:prstGeom prst="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51560" y="40873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热门款式分析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1560" y="43068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抓取畅销榜并生成 AI 报告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1234440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234440"/>
            <a:ext cx="54864" cy="475488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303520" y="12527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图片整理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14721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按标签或数字重命名图片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1801368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1801368"/>
            <a:ext cx="54864" cy="475488"/>
          </a:xfrm>
          <a:prstGeom prst="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1819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303520" y="1819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标签规则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20391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OCR 标签配置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2368296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368296"/>
            <a:ext cx="54864" cy="475488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303520" y="2386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挂拍净图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03520" y="26060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本地处理挂拍图输出净图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2935224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2935224"/>
            <a:ext cx="54864" cy="475488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303520" y="2953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压缩器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03520" y="3172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重压缩内嵌图片减小体积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9160" y="3502152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09160" y="3502152"/>
            <a:ext cx="54864" cy="475488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530352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 提取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303520" y="37398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PDF 提取 PO 数据到 Excel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4069080"/>
            <a:ext cx="3977640" cy="475488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09160" y="4069080"/>
            <a:ext cx="54864" cy="475488"/>
          </a:xfrm>
          <a:prstGeom prst="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5303520" y="40873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设置与常见问题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303520" y="43068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配置、授权与 FAQ</a:t>
            </a:r>
            <a:endParaRPr lang="en-US" sz="900" dirty="0"/>
          </a:p>
        </p:txBody>
      </p:sp>
      <p:sp>
        <p:nvSpPr>
          <p:cNvPr id="6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 Bot 是一款专为服装运营工作流设计的 Electron 桌面应用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840480" cy="329184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329184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09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八大功能模块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01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覆盖抓取、创作、数据全场景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40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15+ 品牌支持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323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Zara/Bershka/H&amp;M/Uniqlo/Mango 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6207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70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+ 云端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626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本地模型与云端 LLM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9242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3009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中英双语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930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完整中英文界面切换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92277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8313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向导式操作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0233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分步骤配置，易上手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19659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234440"/>
            <a:ext cx="54864" cy="150876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457200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20840" y="1234440"/>
            <a:ext cx="19659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1234440"/>
            <a:ext cx="54864" cy="15087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14630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72084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支持品牌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2926080"/>
            <a:ext cx="19659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2926080"/>
            <a:ext cx="54864" cy="1508760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154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4572000" y="3886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模式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20840" y="2926080"/>
            <a:ext cx="19659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20840" y="2926080"/>
            <a:ext cx="54864" cy="150876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3154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6720840" y="3886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工作区组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适用场景：服装品牌竞品分析、商品资料抓取、画册制作、挂拍图处理、PO 数据提取等全链路运营场景</a:t>
            </a:r>
            <a:endParaRPr lang="en-US" sz="9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界面导航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三区域布局：顶部导航栏 + 侧边栏 + 主内容区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>
              <a:gd name="adj" fmla="val 9091"/>
            </a:avLst>
          </a:prstGeom>
          <a:solidFill>
            <a:srgbClr val="1A1F2E"/>
          </a:solidFill>
          <a:ln w="12700">
            <a:solidFill>
              <a:srgbClr val="0F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顶部导航栏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280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 Bot 名称  |  日志 · 任务 · 授权 · 设置 · 帮助  |  EN/中 语言切换  |  窗口控制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2011680" cy="2606040"/>
          </a:xfrm>
          <a:prstGeom prst="rect">
            <a:avLst>
              <a:gd name="adj" fmla="val 2273"/>
            </a:avLst>
          </a:prstGeom>
          <a:solidFill>
            <a:srgbClr val="1A1F2E"/>
          </a:solidFill>
          <a:ln w="12700">
            <a:solidFill>
              <a:srgbClr val="0F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3225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PPT生成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5237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抓取与分析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697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抓取器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871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热门款式分析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0723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246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图片整理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419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标签规则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593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挂拍净图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767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PDF压缩器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941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PO提取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1874520"/>
            <a:ext cx="6080760" cy="2606040"/>
          </a:xfrm>
          <a:prstGeom prst="rect">
            <a:avLst>
              <a:gd name="adj" fmla="val 17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196596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主内容区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23317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模块图标 + 标题 + 描述文字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6517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分步骤进度指示器（圆点 + 数字）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29718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表单配置区（文件选择、下拉、输入）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329184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底部导航：上一步 / 步骤计数 / 下一步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34640" y="361188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浮动操作按钮（右下角快捷入口）</a:t>
            </a:r>
            <a:endParaRPr lang="en-US" sz="10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功能模块总览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八大模块按工作区分组，覆盖全场景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195453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141732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178308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PPT生成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011680"/>
            <a:ext cx="502920" cy="182880"/>
          </a:xfrm>
          <a:prstGeom prst="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11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15568" y="2011680"/>
            <a:ext cx="411480" cy="182880"/>
          </a:xfrm>
          <a:prstGeom prst="rect">
            <a:avLst>
              <a:gd name="adj" fmla="val 15000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20116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" y="2240280"/>
            <a:ext cx="1735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从图片文件夹生成款式/面料画册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48890" y="1234440"/>
            <a:ext cx="195453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48890" y="1234440"/>
            <a:ext cx="54864" cy="1417320"/>
          </a:xfrm>
          <a:prstGeom prst="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8618" y="178308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8618" y="2011680"/>
            <a:ext cx="502920" cy="182880"/>
          </a:xfrm>
          <a:prstGeom prst="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8618" y="2011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7258" y="2011680"/>
            <a:ext cx="411480" cy="182880"/>
          </a:xfrm>
          <a:prstGeom prst="rect">
            <a:avLst>
              <a:gd name="adj" fmla="val 15000"/>
            </a:avLst>
          </a:prstGeom>
          <a:solidFill>
            <a:srgbClr val="60A5F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7258" y="20116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58618" y="2240280"/>
            <a:ext cx="1735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批量抓取15+品牌商品资料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40580" y="1234440"/>
            <a:ext cx="195453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0580" y="1234440"/>
            <a:ext cx="54864" cy="1417320"/>
          </a:xfrm>
          <a:prstGeom prst="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50308" y="178308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热门款式分析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0308" y="2011680"/>
            <a:ext cx="502920" cy="182880"/>
          </a:xfrm>
          <a:prstGeom prst="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0308" y="2011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298948" y="2011680"/>
            <a:ext cx="411480" cy="182880"/>
          </a:xfrm>
          <a:prstGeom prst="rect">
            <a:avLst>
              <a:gd name="adj" fmla="val 15000"/>
            </a:avLst>
          </a:prstGeom>
          <a:solidFill>
            <a:srgbClr val="F43F5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98948" y="20116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4步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0308" y="2240280"/>
            <a:ext cx="1735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抓取畅销榜并生成AI报告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32270" y="1234440"/>
            <a:ext cx="195453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32270" y="1234440"/>
            <a:ext cx="54864" cy="141732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41998" y="178308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图片整理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41998" y="2011680"/>
            <a:ext cx="502920" cy="182880"/>
          </a:xfrm>
          <a:prstGeom prst="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1998" y="2011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90638" y="2011680"/>
            <a:ext cx="411480" cy="182880"/>
          </a:xfrm>
          <a:prstGeom prst="rect">
            <a:avLst>
              <a:gd name="adj" fmla="val 15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90638" y="20116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2步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41998" y="2240280"/>
            <a:ext cx="1735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按标签OCR或数字重命名图片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2788920"/>
            <a:ext cx="195453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" y="2788920"/>
            <a:ext cx="54864" cy="1417320"/>
          </a:xfrm>
          <a:prstGeom prst="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" y="2898648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66928" y="333756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标签规则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66928" y="3566160"/>
            <a:ext cx="502920" cy="182880"/>
          </a:xfrm>
          <a:prstGeom prst="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3566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115568" y="3566160"/>
            <a:ext cx="411480" cy="182880"/>
          </a:xfrm>
          <a:prstGeom prst="rect">
            <a:avLst>
              <a:gd name="adj" fmla="val 15000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5568" y="3566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66928" y="3794760"/>
            <a:ext cx="1735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统一配置OCR标筼预设模板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548890" y="2788920"/>
            <a:ext cx="195453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548890" y="2788920"/>
            <a:ext cx="54864" cy="141732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58618" y="2898648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58618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2658618" y="333756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挂拍净图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658618" y="3566160"/>
            <a:ext cx="502920" cy="182880"/>
          </a:xfrm>
          <a:prstGeom prst="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58618" y="3566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7258" y="3566160"/>
            <a:ext cx="411480" cy="182880"/>
          </a:xfrm>
          <a:prstGeom prst="rect">
            <a:avLst>
              <a:gd name="adj" fmla="val 15000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7258" y="3566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2步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658618" y="3794760"/>
            <a:ext cx="1735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本地处理挂拍图输出净图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40580" y="2788920"/>
            <a:ext cx="195453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40580" y="2788920"/>
            <a:ext cx="54864" cy="141732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50308" y="2898648"/>
            <a:ext cx="365760" cy="36576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0308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750308" y="333756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PDF压缩器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750308" y="3566160"/>
            <a:ext cx="502920" cy="182880"/>
          </a:xfrm>
          <a:prstGeom prst="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0308" y="3566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298948" y="3566160"/>
            <a:ext cx="411480" cy="182880"/>
          </a:xfrm>
          <a:prstGeom prst="rect">
            <a:avLst>
              <a:gd name="adj" fmla="val 15000"/>
            </a:avLst>
          </a:prstGeom>
          <a:solidFill>
            <a:srgbClr val="FB923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98948" y="3566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1步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750308" y="3794760"/>
            <a:ext cx="1735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重压缩内嵌图片减小体积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732270" y="2788920"/>
            <a:ext cx="195453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732270" y="2788920"/>
            <a:ext cx="54864" cy="1417320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41998" y="289864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41998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841998" y="3337560"/>
            <a:ext cx="1735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PO提取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841998" y="3566160"/>
            <a:ext cx="502920" cy="182880"/>
          </a:xfrm>
          <a:prstGeom prst="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41998" y="3566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390638" y="3566160"/>
            <a:ext cx="411480" cy="182880"/>
          </a:xfrm>
          <a:prstGeom prst="rect">
            <a:avLst>
              <a:gd name="adj" fmla="val 15000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90638" y="3566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4步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841998" y="3794760"/>
            <a:ext cx="17350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从PDF提取PO数据填入Excel</a:t>
            </a:r>
            <a:endParaRPr lang="en-US" sz="800" dirty="0"/>
          </a:p>
        </p:txBody>
      </p:sp>
      <p:sp>
        <p:nvSpPr>
          <p:cNvPr id="8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PPT生成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从图片文件夹生成演示文稿，支持款式与面料双模式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09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款式画册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01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从款式文件夹生成，每页1-6图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面料画册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生成面料样卡演示文稿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0720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图片后缀排序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F,B,S,D 自定义显示顺序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1012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款式信息字段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款号/名称/价格/描述可选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1304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自动描述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Ollama/云端 LLM 撰写产品描述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261733"/>
            <a:ext cx="4416552" cy="3237253"/>
          </a:xfrm>
          <a:prstGeom prst="rect">
            <a:avLst>
              <a:gd name="adj" fmla="val 1695"/>
            </a:avLst>
          </a:prstGeom>
          <a:solidFill>
            <a:srgbClr val="0A1628"/>
          </a:solidFill>
          <a:ln w="12700">
            <a:solidFill>
              <a:srgbClr val="0F1F3A"/>
            </a:solidFill>
            <a:prstDash val="solid"/>
          </a:ln>
        </p:spPr>
      </p:sp>
      <p:pic>
        <p:nvPicPr>
          <p:cNvPr id="27" name="Image 0" descr="c:\Users\Administrator\.trae-cn\work\6a7e65495c6a4d9e6d9905a4\screenshots\ppt_gen_1650x1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98309"/>
            <a:ext cx="4343400" cy="31641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343400" y="4508131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 界面示例 ──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PPT生成 - 操作步骤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四步向导式配置流程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源文件夹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选择包含款式图或面料图的文件夹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文件夹选择器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必填项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3001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889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4889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86050" y="141732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605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8605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类型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8605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选择款式画册或面料画册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8605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3177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款式画册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6893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从款式文件夹生成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3177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面料画册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6893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生成面料样卡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2170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058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058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7740" y="141732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77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7774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版式设置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774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设置图片排列与后缀顺序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774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346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组织方式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6062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按文件夹/单文件夹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2346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每页图片数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6062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1/2/3/4/6 可选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23460" y="3502152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图片后缀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60620" y="3657600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F,B,S,D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1339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3227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3227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69430" y="141732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6943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6943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与输出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6943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启用AI描述并设置输出路径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6943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1515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描述开关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231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本地/云端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91515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输出文件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5231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默认桌面</a:t>
            </a:r>
            <a:endParaRPr lang="en-US" sz="700" dirty="0"/>
          </a:p>
        </p:txBody>
      </p:sp>
      <p:sp>
        <p:nvSpPr>
          <p:cNvPr id="5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批量抓取 Zara、Bershka 等 15+ 品牌商品资料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09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15+ 品牌支持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01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Zara/Bershka/Mango/H&amp;M/Uniqlo 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款号批录抓取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手动输入或 Excel 导入款号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07208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多线程下载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1-20 线程可调，并发抓取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10128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自动下载图片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商品图片与元数据同步下载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13048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趋势分析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抓取后可选择运行 AI 分析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261733"/>
            <a:ext cx="4416552" cy="3237253"/>
          </a:xfrm>
          <a:prstGeom prst="rect">
            <a:avLst>
              <a:gd name="adj" fmla="val 1695"/>
            </a:avLst>
          </a:prstGeom>
          <a:solidFill>
            <a:srgbClr val="0A1628"/>
          </a:solidFill>
          <a:ln w="12700">
            <a:solidFill>
              <a:srgbClr val="0F1F3A"/>
            </a:solidFill>
            <a:prstDash val="solid"/>
          </a:ln>
        </p:spPr>
      </p:sp>
      <p:pic>
        <p:nvPicPr>
          <p:cNvPr id="27" name="Image 0" descr="c:\Users\Administrator\.trae-cn\work\6a7e65495c6a4d9e6d9905a4\screenshots\scraper_1650x1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98309"/>
            <a:ext cx="4343400" cy="31641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343400" y="4508131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 界面示例 ──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抓取器 - 操作步骤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三步向导式配置流程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651760" cy="310896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品牌选择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选择要抓取的品牌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品牌下拉选择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必填项，单选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080" y="314553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多品牌混合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支持多品牌批量抓取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12724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280160"/>
            <a:ext cx="2651760" cy="310896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1417320"/>
            <a:ext cx="365760" cy="3657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款号输入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输入款号或从 Excel 导入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560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27889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款号文本框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6160" y="29443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逗号分隔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429000" y="314553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Excel 导入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66160" y="3300984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xlsx/xls/csv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91616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1280160"/>
            <a:ext cx="2651760" cy="310896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1417320"/>
            <a:ext cx="365760" cy="36576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722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输出与选项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设置输出目录和下载参数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2560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27889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输出目录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29443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默认桌面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314553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下载线程数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55080" y="3300984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1-20 可调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17920" y="35021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趋势分析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55080" y="365760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抓取后自动分析</a:t>
            </a:r>
            <a:endParaRPr lang="en-US" sz="70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热门款式分析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抓取畅销榜款式并生成 AI 趋势报告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09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畅销榜抓取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01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自动抓取品牌畅销榜数据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男女装分类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可选择女装或男装畅销榜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07208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图片数量可控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每款1-6图或全部抓取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10128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全部颜色选项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可选择抓取全部颜色图片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13048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趋势报告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云端/本地 LLM 生成中英文报告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261733"/>
            <a:ext cx="4416552" cy="3237253"/>
          </a:xfrm>
          <a:prstGeom prst="rect">
            <a:avLst>
              <a:gd name="adj" fmla="val 1695"/>
            </a:avLst>
          </a:prstGeom>
          <a:solidFill>
            <a:srgbClr val="0A1628"/>
          </a:solidFill>
          <a:ln w="12700">
            <a:solidFill>
              <a:srgbClr val="0F1F3A"/>
            </a:solidFill>
            <a:prstDash val="solid"/>
          </a:ln>
        </p:spPr>
      </p:sp>
      <p:pic>
        <p:nvPicPr>
          <p:cNvPr id="27" name="Image 0" descr="c:\Users\Administrator\.trae-cn\work\6a7e65495c6a4d9e6d9905a4\screenshots\bestseller_1650x1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98309"/>
            <a:ext cx="4343400" cy="31641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343400" y="4508131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 界面示例 ──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热门款式分析 - 操作步骤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四步向导式配置流程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品牌选择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选择要抓取的品牌畅销榜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品牌下拉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必填项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3001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889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4889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86050" y="1417320"/>
            <a:ext cx="365760" cy="3657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605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8605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类别选择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8605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选择要抓取的畅销榜类别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8605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3177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女装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6893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女装畅销榜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3177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男装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6893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男装畅销榜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2170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058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058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7740" y="1417320"/>
            <a:ext cx="365760" cy="3657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77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7774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图片设置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774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设置每款图片数量与选项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774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346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每款图片数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6062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全部/1-6张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2346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全部颜色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6062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开关选项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23460" y="3502152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包含配饰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60620" y="3657600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开关选项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1339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3227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3227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69430" y="1417320"/>
            <a:ext cx="365760" cy="3657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6943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6943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输出与分析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6943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设置输出目录和AI分析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6943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1515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输出目录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231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默认桌面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91515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趋势报告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5231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默认开启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915150" y="3502152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报告语言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52310" y="3657600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中文/英文</a:t>
            </a:r>
            <a:endParaRPr lang="en-US" sz="700" dirty="0"/>
          </a:p>
        </p:txBody>
      </p:sp>
      <p:sp>
        <p:nvSpPr>
          <p:cNvPr id="5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图片整理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根据标签重命名服装图或面料图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09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标签命名模式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01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OCR 面料/款式标签重命名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数字命名模式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按顺序编号 + 后缀区分重命名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072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面料标签/款式标签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两种标签类型可选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101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OCR 引擎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guten-ocr 等多引擎可选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130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命名依据可选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款号/面料代码/成分/门幅/克重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261733"/>
            <a:ext cx="4416552" cy="3237253"/>
          </a:xfrm>
          <a:prstGeom prst="rect">
            <a:avLst>
              <a:gd name="adj" fmla="val 1695"/>
            </a:avLst>
          </a:prstGeom>
          <a:solidFill>
            <a:srgbClr val="0A1628"/>
          </a:solidFill>
          <a:ln w="12700">
            <a:solidFill>
              <a:srgbClr val="0F1F3A"/>
            </a:solidFill>
            <a:prstDash val="solid"/>
          </a:ln>
        </p:spPr>
      </p:sp>
      <p:pic>
        <p:nvPicPr>
          <p:cNvPr id="27" name="Image 0" descr="c:\Users\Administrator\.trae-cn\work\6a7e65495c6a4d9e6d9905a4\screenshots\organizer_1650x1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98309"/>
            <a:ext cx="4343400" cy="31641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343400" y="4508131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 界面示例 ──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图片整理 - 操作步骤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两步向导式配置流程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404622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源文件夹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3771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选择需要整理的图片文件夹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3771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文件夹选择器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必填项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2170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0580" y="1280160"/>
            <a:ext cx="404622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058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7740" y="14173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77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77740" y="187452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命名方式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7740" y="2148840"/>
            <a:ext cx="3771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选择按标签或按数字重命名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7740" y="2560320"/>
            <a:ext cx="3771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23460" y="2788920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标签模式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60620" y="2944368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OCR 面料/款式标签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23460" y="3145536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数字模式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0620" y="3300984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顺序编号 + 后缀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23460" y="3502152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OCR 引擎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60620" y="3657600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多引擎可选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23460" y="3858768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每组图片数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0620" y="4014216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默认 4 张</a:t>
            </a:r>
            <a:endParaRPr lang="en-US" sz="7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标签规则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统一设置 PPT 生成和图片整理共用的 OCR 标签规则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73152" cy="7315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09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关键词预设管理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01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保存多套预设模板，按需切换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73152" cy="7315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面料代码标签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自定义面料代码识别字段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07208"/>
            <a:ext cx="73152" cy="7315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款号标签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支持多种格式：编号/款号/ART NO 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10128"/>
            <a:ext cx="73152" cy="7315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Tag 增删管理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输入字段后回车添加，点击删除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13048"/>
            <a:ext cx="73152" cy="7315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跨模块共享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生成与图片整理共用同一配置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261733"/>
            <a:ext cx="4416552" cy="3237253"/>
          </a:xfrm>
          <a:prstGeom prst="rect">
            <a:avLst>
              <a:gd name="adj" fmla="val 1695"/>
            </a:avLst>
          </a:prstGeom>
          <a:solidFill>
            <a:srgbClr val="0A1628"/>
          </a:solidFill>
          <a:ln w="12700">
            <a:solidFill>
              <a:srgbClr val="0F1F3A"/>
            </a:solidFill>
            <a:prstDash val="solid"/>
          </a:ln>
        </p:spPr>
      </p:sp>
      <p:pic>
        <p:nvPicPr>
          <p:cNvPr id="27" name="Image 0" descr="c:\Users\Administrator\.trae-cn\work\6a7e65495c6a4d9e6d9905a4\screenshots\tag_rules_1650x1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98309"/>
            <a:ext cx="4343400" cy="31641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343400" y="4508131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 界面示例 ──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挂拍净图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本地处理挂拍服装图，输出透明底或白底净图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09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轻量模型 (ONNX)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01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处理速度快，适合批量处理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满血模型 (RMBG)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效果最佳，适合高质量输出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0720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透明底/白底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两种背景模式可选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1012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多种输出比例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原始/3:4/9:16/16:9/1:1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1304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全本地处理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数据不外泄，支持多格式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261733"/>
            <a:ext cx="4416552" cy="3237253"/>
          </a:xfrm>
          <a:prstGeom prst="rect">
            <a:avLst>
              <a:gd name="adj" fmla="val 1695"/>
            </a:avLst>
          </a:prstGeom>
          <a:solidFill>
            <a:srgbClr val="0A1628"/>
          </a:solidFill>
          <a:ln w="12700">
            <a:solidFill>
              <a:srgbClr val="0F1F3A"/>
            </a:solidFill>
            <a:prstDash val="solid"/>
          </a:ln>
        </p:spPr>
      </p:sp>
      <p:pic>
        <p:nvPicPr>
          <p:cNvPr id="27" name="Image 0" descr="c:\Users\Administrator\.trae-cn\work\6a7e65495c6a4d9e6d9905a4\screenshots\cleaner_1650x1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98309"/>
            <a:ext cx="4343400" cy="31641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343400" y="4508131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 界面示例 ──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挂拍净图 - 操作步骤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两步向导式配置流程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404622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源文件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3771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选择需要净化的图片文件或文件夹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3771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文件夹选择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批量处理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080" y="3145536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文件选择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单个处理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" y="3502152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输出目录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默认桌面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2170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0580" y="1280160"/>
            <a:ext cx="404622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058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7740" y="141732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77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77740" y="187452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选项设置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7740" y="2148840"/>
            <a:ext cx="3771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选择模型、背景和输出比例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7740" y="2560320"/>
            <a:ext cx="37719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3460" y="2788920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模型版本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60620" y="2944368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轻量/满血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23460" y="3145536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背景模式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60620" y="3300984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透明底/白底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23460" y="3502152"/>
            <a:ext cx="3726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输出比例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60620" y="3657600"/>
            <a:ext cx="3589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原始/3:4/9:16/16:9/1:1</a:t>
            </a:r>
            <a:endParaRPr lang="en-US" sz="7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PDF压缩器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通过重压缩内嵌图片来缩小一个或多个 PDF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47088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多文件批量压缩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476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支持同时选择多个 PDF 文件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50008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58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三级压缩强度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505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均衡/轻度/强力三种模式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52928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614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均衡模式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535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质量与体积平衡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55848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644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轻度模式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564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最小质量损失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58768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67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强力模式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593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最大体积压缩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261733"/>
            <a:ext cx="4416552" cy="3237253"/>
          </a:xfrm>
          <a:prstGeom prst="rect">
            <a:avLst>
              <a:gd name="adj" fmla="val 1695"/>
            </a:avLst>
          </a:prstGeom>
          <a:solidFill>
            <a:srgbClr val="0A1628"/>
          </a:solidFill>
          <a:ln w="12700">
            <a:solidFill>
              <a:srgbClr val="0F1F3A"/>
            </a:solidFill>
            <a:prstDash val="solid"/>
          </a:ln>
        </p:spPr>
      </p:sp>
      <p:pic>
        <p:nvPicPr>
          <p:cNvPr id="27" name="Image 0" descr="c:\Users\Administrator\.trae-cn\work\6a7e65495c6a4d9e6d9905a4\screenshots\pdf_squeezer_1650x1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98309"/>
            <a:ext cx="4343400" cy="31641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343400" y="4508131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 界面示例 ──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PO提取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PDF 提取 PO 数据并填入 Excel 模版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09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PDF 批量提取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01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支持同时选择多个 PDF 文件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模版/预设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可选择 Excel 模版或已保存预设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0720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15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驱动提取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本地/云端/API 三种来源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1012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18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OCR 引擎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guten-ocr 等多引擎可选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1304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21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三级验证门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缓存验证/拦截/UI守卫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06824" y="1261733"/>
            <a:ext cx="4416552" cy="3237253"/>
          </a:xfrm>
          <a:prstGeom prst="rect">
            <a:avLst>
              <a:gd name="adj" fmla="val 1695"/>
            </a:avLst>
          </a:prstGeom>
          <a:solidFill>
            <a:srgbClr val="0A1628"/>
          </a:solidFill>
          <a:ln w="12700">
            <a:solidFill>
              <a:srgbClr val="0F1F3A"/>
            </a:solidFill>
            <a:prstDash val="solid"/>
          </a:ln>
        </p:spPr>
      </p:sp>
      <p:pic>
        <p:nvPicPr>
          <p:cNvPr id="27" name="Image 0" descr="c:\Users\Administrator\.trae-cn\work\6a7e65495c6a4d9e6d9905a4\screenshots\po_extract_1650x1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98309"/>
            <a:ext cx="4343400" cy="31641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343400" y="4508131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 界面示例 ──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PO提取 - 操作步骤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四步向导式配置流程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源文件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选择要提取的 PO PDF 文件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PDF 文件选择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多文件，必填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3001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889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4889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86050" y="141732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605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8605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8605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Excel 模版或已保存预设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8605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3177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Excel 模版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6893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xlsx/xls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3177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已保存预设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6893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下拉选择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2170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058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058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7740" y="141732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77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7774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提取引擎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774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OCR 引擎和 AI 来源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774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346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OCR 引擎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6062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guten-ocr 等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2346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来源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6062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本地/云端/API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23460" y="3502152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模型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60620" y="3657600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使用设置默认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13398" y="2816352"/>
            <a:ext cx="10058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32270" y="1280160"/>
            <a:ext cx="1954530" cy="3108960"/>
          </a:xfrm>
          <a:prstGeom prst="rect">
            <a:avLst>
              <a:gd name="adj" fmla="val 37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32270" y="1280160"/>
            <a:ext cx="54864" cy="3108960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69430" y="141732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6943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69430" y="1874520"/>
            <a:ext cx="1680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69430" y="2148840"/>
            <a:ext cx="1680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生成的 Excel 默认保存到桌面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69430" y="2560320"/>
            <a:ext cx="1680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配置项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15150" y="2788920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输出文件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2310" y="2944368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默认桌面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915150" y="3145536"/>
            <a:ext cx="1634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布局缓存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52310" y="3300984"/>
            <a:ext cx="1497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高级选项</a:t>
            </a:r>
            <a:endParaRPr lang="en-US" sz="700" dirty="0"/>
          </a:p>
        </p:txBody>
      </p:sp>
      <p:sp>
        <p:nvSpPr>
          <p:cNvPr id="5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设置与授权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713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全局配置、授权管理与系统功能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84048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0040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(Settings)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84708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55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模型配置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476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配置本地 Ollama 或云端 LLM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35000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58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引擎管理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505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选择和配置 OCR 引擎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85292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761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下载线程数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535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调整抓取器并发数量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3558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64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输出路径默认值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564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默认保存到桌面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85876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67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语言切换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593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中英双语界面切换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280160"/>
            <a:ext cx="411480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280160"/>
            <a:ext cx="54864" cy="15087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顶部导航功能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17373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19202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查看操作日志与错误信息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29400" y="17373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任务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19202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查看当前与历史任务状态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2194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授权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23774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输入授权码激活软件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29400" y="2194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帮助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29400" y="23774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查看使用文档与支持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2926080"/>
            <a:ext cx="41148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2926080"/>
            <a:ext cx="54864" cy="1554480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授权说明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3383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首次启动后点击「授权」标签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输入授权码并点击激活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激活成功后可使用全部功能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授权过期后需重新输入授权码</a:t>
            </a:r>
            <a:endParaRPr lang="en-US" sz="900" dirty="0"/>
          </a:p>
        </p:txBody>
      </p:sp>
      <p:sp>
        <p:nvSpPr>
          <p:cNvPr id="4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 — 常见问题与解决方案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97764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96012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抓取器抓取失败怎么办？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检查网络连接；尝试减少下载线程数；Zara 可开启备用搜索模式。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34440"/>
            <a:ext cx="54864" cy="96012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AI 描述/分析无法使用？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81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在设置中配置 Ollama 本地模型，或切换为云端 LLM。确保模型已正确加载。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397764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04288"/>
            <a:ext cx="54864" cy="96012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9572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PO 提取数据不准确？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确保 PDF 清晰；尝试不同 OCR 引擎；检查 Excel 模版是否匹配。布局缓存可加速重复提取。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304288"/>
            <a:ext cx="397764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304288"/>
            <a:ext cx="54864" cy="96012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9572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挂拍净图速度慢？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651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轻量模型 (ONNX) 处理更快；满血模型 (RMBG) 质量更佳但较慢。批量处理建议用轻量模型。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74136"/>
            <a:ext cx="397764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74136"/>
            <a:ext cx="54864" cy="96012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6557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图片整理 OCR 识别不出标签？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7216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在标签规则中添加更多关键词变体；确保标签图片清晰；尝试不同 OCR 引擎。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374136"/>
            <a:ext cx="397764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374136"/>
            <a:ext cx="54864" cy="960120"/>
          </a:xfrm>
          <a:prstGeom prst="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6557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PDF 压缩后质量太差？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7216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选择轻度模式，最小质量损失。均衡模式适合大多数场景。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.trae-cn\work\6a7e65495c6a4d9e6d9905a4\gsbot_cover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0" y="1828800"/>
            <a:ext cx="10972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如有问题请参阅帮助文档或联系技术支持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Bot 使用说明书  |  Version 2026  |  Copyright © 2026 JayforAndy</a:t>
            </a:r>
            <a:endParaRPr lang="en-US" sz="11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 Bot 使用说明书</dc:title>
  <dc:subject>PptxGenJS Presentation</dc:subject>
  <dc:creator>GS Bot</dc:creator>
  <cp:lastModifiedBy>GS Bot</cp:lastModifiedBy>
  <cp:revision>1</cp:revision>
  <dcterms:created xsi:type="dcterms:W3CDTF">2026-08-14T08:23:10Z</dcterms:created>
  <dcterms:modified xsi:type="dcterms:W3CDTF">2026-08-14T08:23:10Z</dcterms:modified>
</cp:coreProperties>
</file>